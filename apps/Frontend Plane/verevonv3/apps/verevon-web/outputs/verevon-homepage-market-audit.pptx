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65ff9aec7b4232" /><Relationship Type="http://schemas.openxmlformats.org/officeDocument/2006/relationships/extended-properties" Target="/docProps/app.xml" Id="Re52d31c9e8794b3a" /><Relationship Type="http://schemas.openxmlformats.org/officeDocument/2006/relationships/officeDocument" Target="/ppt/presentation.xml" Id="Rdc77dd4c54034046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c969e8674de844c9"/>
  </p:sldMasterIdLst>
  <p:notesMasterIdLst>
    <p:notesMasterId xmlns:r="http://schemas.openxmlformats.org/officeDocument/2006/relationships" r:id="Ra60fe048ae9a409b"/>
  </p:notesMasterIdLst>
  <p:sldIdLst>
    <p:sldId xmlns:r="http://schemas.openxmlformats.org/officeDocument/2006/relationships" id="256" r:id="R61f0e053d08b4478"/>
    <p:sldId xmlns:r="http://schemas.openxmlformats.org/officeDocument/2006/relationships" id="257" r:id="R3a861b862c6440f9"/>
    <p:sldId xmlns:r="http://schemas.openxmlformats.org/officeDocument/2006/relationships" id="258" r:id="Ra576a7cbe0874df6"/>
    <p:sldId xmlns:r="http://schemas.openxmlformats.org/officeDocument/2006/relationships" id="259" r:id="R9347f62a9c2c448f"/>
    <p:sldId xmlns:r="http://schemas.openxmlformats.org/officeDocument/2006/relationships" id="260" r:id="Re1f25af1197d44fb"/>
    <p:sldId xmlns:r="http://schemas.openxmlformats.org/officeDocument/2006/relationships" id="261" r:id="R73772f86c177468c"/>
  </p:sldIdLst>
  <p:sldSz cx="12192000" cy="6858000"/>
  <p:notesSz cx="6858000" cy="9144000"/>
  <p:embeddedFontLst>
    <p:embeddedFont>
      <p:font typeface="Lora"/>
      <p:regular xmlns:r="http://schemas.openxmlformats.org/officeDocument/2006/relationships" r:id="R5ce1275ae3e749aa"/>
      <p:bold xmlns:r="http://schemas.openxmlformats.org/officeDocument/2006/relationships" r:id="Rba3f5ce1a83144cd"/>
      <p:italic xmlns:r="http://schemas.openxmlformats.org/officeDocument/2006/relationships" r:id="R1d8e9f93ced74444"/>
      <p:boldItalic xmlns:r="http://schemas.openxmlformats.org/officeDocument/2006/relationships" r:id="Ra19657ec3a154440"/>
    </p:embeddedFont>
    <p:embeddedFont>
      <p:font typeface="OpenAI Sans"/>
      <p:regular xmlns:r="http://schemas.openxmlformats.org/officeDocument/2006/relationships" r:id="R38fd4dfeb4364365"/>
      <p:bold xmlns:r="http://schemas.openxmlformats.org/officeDocument/2006/relationships" r:id="R1eb25492d3bf4ec4"/>
      <p:italic xmlns:r="http://schemas.openxmlformats.org/officeDocument/2006/relationships" r:id="R649784710a4b4d1a"/>
      <p:boldItalic xmlns:r="http://schemas.openxmlformats.org/officeDocument/2006/relationships" r:id="Re9ef1e07ad024d6f"/>
    </p:embeddedFont>
    <p:embeddedFont>
      <p:font typeface="Roboto"/>
      <p:regular xmlns:r="http://schemas.openxmlformats.org/officeDocument/2006/relationships" r:id="Rccf98a4cb2a945a2"/>
      <p:bold xmlns:r="http://schemas.openxmlformats.org/officeDocument/2006/relationships" r:id="Ra9a7234f5c064329"/>
      <p:italic xmlns:r="http://schemas.openxmlformats.org/officeDocument/2006/relationships" r:id="R8eb7f7fc90314110"/>
      <p:boldItalic xmlns:r="http://schemas.openxmlformats.org/officeDocument/2006/relationships" r:id="R5bdf30d76d74487f"/>
    </p:embeddedFont>
  </p:embeddedFontLst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f97219dcb87440d" /><Relationship Type="http://schemas.openxmlformats.org/officeDocument/2006/relationships/slideMaster" Target="/ppt/slideMasters/slideMaster1.xml" Id="Rc969e8674de844c9" /><Relationship Type="http://schemas.openxmlformats.org/officeDocument/2006/relationships/notesMaster" Target="/ppt/notesMasters/notesMaster1.xml" Id="Ra60fe048ae9a409b" /><Relationship Type="http://schemas.openxmlformats.org/officeDocument/2006/relationships/presProps" Target="/ppt/presProps.xml" Id="R7760fe14fe6649da" /><Relationship Type="http://schemas.openxmlformats.org/officeDocument/2006/relationships/viewProps" Target="/ppt/viewProps.xml" Id="R735037a0905c4c44" /><Relationship Type="http://schemas.openxmlformats.org/officeDocument/2006/relationships/tableStyles" Target="/ppt/tableStyles.xml" Id="R297d5fcd26d84535" /><Relationship Type="http://schemas.openxmlformats.org/officeDocument/2006/relationships/font" Target="/ppt/fonts/font.dat" Id="R5ce1275ae3e749aa" /><Relationship Type="http://schemas.openxmlformats.org/officeDocument/2006/relationships/font" Target="/ppt/fonts/font2.dat" Id="Rba3f5ce1a83144cd" /><Relationship Type="http://schemas.openxmlformats.org/officeDocument/2006/relationships/font" Target="/ppt/fonts/font3.dat" Id="R1d8e9f93ced74444" /><Relationship Type="http://schemas.openxmlformats.org/officeDocument/2006/relationships/font" Target="/ppt/fonts/font4.dat" Id="Ra19657ec3a154440" /><Relationship Type="http://schemas.openxmlformats.org/officeDocument/2006/relationships/font" Target="/ppt/fonts/font5.dat" Id="R38fd4dfeb4364365" /><Relationship Type="http://schemas.openxmlformats.org/officeDocument/2006/relationships/font" Target="/ppt/fonts/font6.dat" Id="R1eb25492d3bf4ec4" /><Relationship Type="http://schemas.openxmlformats.org/officeDocument/2006/relationships/font" Target="/ppt/fonts/font7.dat" Id="R649784710a4b4d1a" /><Relationship Type="http://schemas.openxmlformats.org/officeDocument/2006/relationships/font" Target="/ppt/fonts/font8.dat" Id="Re9ef1e07ad024d6f" /><Relationship Type="http://schemas.openxmlformats.org/officeDocument/2006/relationships/font" Target="/ppt/fonts/font9.dat" Id="Rccf98a4cb2a945a2" /><Relationship Type="http://schemas.openxmlformats.org/officeDocument/2006/relationships/font" Target="/ppt/fonts/font10.dat" Id="Ra9a7234f5c064329" /><Relationship Type="http://schemas.openxmlformats.org/officeDocument/2006/relationships/font" Target="/ppt/fonts/font11.dat" Id="R8eb7f7fc90314110" /><Relationship Type="http://schemas.openxmlformats.org/officeDocument/2006/relationships/font" Target="/ppt/fonts/font12.dat" Id="R5bdf30d76d74487f" /><Relationship Type="http://schemas.openxmlformats.org/officeDocument/2006/relationships/slide" Target="/ppt/slides/slide1.xml" Id="R61f0e053d08b4478" /><Relationship Type="http://schemas.openxmlformats.org/officeDocument/2006/relationships/slide" Target="/ppt/slides/slide2.xml" Id="R3a861b862c6440f9" /><Relationship Type="http://schemas.openxmlformats.org/officeDocument/2006/relationships/slide" Target="/ppt/slides/slide3.xml" Id="Ra576a7cbe0874df6" /><Relationship Type="http://schemas.openxmlformats.org/officeDocument/2006/relationships/slide" Target="/ppt/slides/slide4.xml" Id="R9347f62a9c2c448f" /><Relationship Type="http://schemas.openxmlformats.org/officeDocument/2006/relationships/slide" Target="/ppt/slides/slide5.xml" Id="Re1f25af1197d44fb" /><Relationship Type="http://schemas.openxmlformats.org/officeDocument/2006/relationships/slide" Target="/ppt/slides/slide6.xml" Id="R73772f86c17746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927772055248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29eb8581a84495" /><Relationship Type="http://schemas.openxmlformats.org/officeDocument/2006/relationships/notesMaster" Target="/ppt/notesMasters/notesMaster1.xml" Id="Refbae7609da846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854cffc2cc4cf2" /><Relationship Type="http://schemas.openxmlformats.org/officeDocument/2006/relationships/notesMaster" Target="/ppt/notesMasters/notesMaster1.xml" Id="R1bc927ffff5248c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e4fb1c99fc49ac" /><Relationship Type="http://schemas.openxmlformats.org/officeDocument/2006/relationships/notesMaster" Target="/ppt/notesMasters/notesMaster1.xml" Id="R740fd5b77ae740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ae935a9d2dc4945" /><Relationship Type="http://schemas.openxmlformats.org/officeDocument/2006/relationships/notesMaster" Target="/ppt/notesMasters/notesMaster1.xml" Id="Rfaac4ff6ef1e492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98745741dd746ae" /><Relationship Type="http://schemas.openxmlformats.org/officeDocument/2006/relationships/notesMaster" Target="/ppt/notesMasters/notesMaster1.xml" Id="R06353b44df6d4e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5598cccb4824484" /><Relationship Type="http://schemas.openxmlformats.org/officeDocument/2006/relationships/notesMaster" Target="/ppt/notesMasters/notesMaster1.xml" Id="R98bad2a9ef5a48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4cfb1e93d8420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c06c00e817468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639da6d260493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eafd8b1bfb403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31f69fce0f4f1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1e84f1d9c7448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308385f75c4ea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dadc64601947bf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431db7f2b64e16" /><Relationship Type="http://schemas.openxmlformats.org/officeDocument/2006/relationships/slideLayout" Target="/ppt/slideLayouts/slideLayout1.xml" Id="R2b7f25ab67814570" /><Relationship Type="http://schemas.openxmlformats.org/officeDocument/2006/relationships/slideLayout" Target="/ppt/slideLayouts/slideLayout2.xml" Id="R968916dde1974dc3" /><Relationship Type="http://schemas.openxmlformats.org/officeDocument/2006/relationships/slideLayout" Target="/ppt/slideLayouts/slideLayout3.xml" Id="R78806fcc43974fc8" /><Relationship Type="http://schemas.openxmlformats.org/officeDocument/2006/relationships/slideLayout" Target="/ppt/slideLayouts/slideLayout4.xml" Id="R8d98a06cbe6f4b10" /><Relationship Type="http://schemas.openxmlformats.org/officeDocument/2006/relationships/slideLayout" Target="/ppt/slideLayouts/slideLayout5.xml" Id="R639669c1adf7427e" /><Relationship Type="http://schemas.openxmlformats.org/officeDocument/2006/relationships/slideLayout" Target="/ppt/slideLayouts/slideLayout6.xml" Id="Rbc848b4fff634e43" /><Relationship Type="http://schemas.openxmlformats.org/officeDocument/2006/relationships/slideLayout" Target="/ppt/slideLayouts/slideLayout7.xml" Id="R097a5dbb740244db" /><Relationship Type="http://schemas.openxmlformats.org/officeDocument/2006/relationships/slideLayout" Target="/ppt/slideLayouts/slideLayout8.xml" Id="R72368cdbe3844eb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7f25ab67814570"/>
    <p:sldLayoutId xmlns:r="http://schemas.openxmlformats.org/officeDocument/2006/relationships" id="2147483650" r:id="R968916dde1974dc3"/>
    <p:sldLayoutId xmlns:r="http://schemas.openxmlformats.org/officeDocument/2006/relationships" id="2147483651" r:id="R78806fcc43974fc8"/>
    <p:sldLayoutId xmlns:r="http://schemas.openxmlformats.org/officeDocument/2006/relationships" id="2147483652" r:id="R8d98a06cbe6f4b10"/>
    <p:sldLayoutId xmlns:r="http://schemas.openxmlformats.org/officeDocument/2006/relationships" id="2147483653" r:id="R639669c1adf7427e"/>
    <p:sldLayoutId xmlns:r="http://schemas.openxmlformats.org/officeDocument/2006/relationships" id="2147483654" r:id="Rbc848b4fff634e43"/>
    <p:sldLayoutId xmlns:r="http://schemas.openxmlformats.org/officeDocument/2006/relationships" id="2147483655" r:id="R097a5dbb740244db"/>
    <p:sldLayoutId xmlns:r="http://schemas.openxmlformats.org/officeDocument/2006/relationships" id="2147483656" r:id="R72368cdbe3844ebe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2d558d068d49c9" /><Relationship Type="http://schemas.openxmlformats.org/officeDocument/2006/relationships/notesSlide" Target="/ppt/notesSlides/notesSlide1.xml" Id="R052e8993a09949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53c60199224537" /><Relationship Type="http://schemas.openxmlformats.org/officeDocument/2006/relationships/notesSlide" Target="/ppt/notesSlides/notesSlide2.xml" Id="R9da0cb8cd89842c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2dd3046ee7440f" /><Relationship Type="http://schemas.openxmlformats.org/officeDocument/2006/relationships/notesSlide" Target="/ppt/notesSlides/notesSlide3.xml" Id="R74275bcdb9fa48b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bac42766a446d8" /><Relationship Type="http://schemas.openxmlformats.org/officeDocument/2006/relationships/notesSlide" Target="/ppt/notesSlides/notesSlide4.xml" Id="R31dbe1de213b4af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a4f0c3ac91497c" /><Relationship Type="http://schemas.openxmlformats.org/officeDocument/2006/relationships/notesSlide" Target="/ppt/notesSlides/notesSlide5.xml" Id="R8135940fd90c441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75db6d85124e21" /><Relationship Type="http://schemas.openxmlformats.org/officeDocument/2006/relationships/notesSlide" Target="/ppt/notesSlides/notesSlide6.xml" Id="R2950ec1d2ed5412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64079" y="2031642"/>
            <a:ext cx="11063842" cy="249149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>
                <a:latin typeface="Lora"/>
                <a:ea typeface="Lora"/>
                <a:cs typeface="Lora"/>
              </a:rPr>
              <a:t>Nordic SaaS Homepage</a:t>
            </a:r>
          </a:p>
          <a:p xmlns:a="http://schemas.openxmlformats.org/drawingml/2006/main">
            <a:pPr algn="ctr">
              <a:buNone/>
            </a:pPr>
            <a:r>
              <a:rPr sz="7200">
                <a:latin typeface="Lora"/>
                <a:ea typeface="Lora"/>
                <a:cs typeface="Lora"/>
              </a:rPr>
              <a:t>Messaging Audit</a:t>
            </a:r>
          </a:p>
        </p:txBody>
      </p:sp>
      <p:sp>
        <p:nvSpPr>
          <p:cNvPr id="13" name="Subtitle 12">
            <a:extLst xmlns:a="http://schemas.openxmlformats.org/drawingml/2006/main">
              <a:ext uri="{FF2B5EF4-FFF2-40B4-BE49-F238E27FC236}">
                <a16:creationId xmlns:a16="http://schemas.microsoft.com/office/drawing/2014/main" id="{8063C0C5-ECDE-60AC-E3F5-DA7ED369D66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398999" y="5045149"/>
            <a:ext cx="7394002" cy="794439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46 public homepages · text-first review · Velion implications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50" y="1352742"/>
            <a:ext cx="5702300" cy="3617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>
                <a:solidFill>
                  <a:srgbClr val="FF4709"/>
                </a:solidFill>
                <a:latin typeface="Roboto"/>
                <a:ea typeface="Roboto"/>
                <a:cs typeface="Roboto"/>
              </a:rPr>
              <a:t>July 2026</a:t>
            </a:r>
          </a:p>
        </p:txBody>
      </p:sp>
    </p:spTree>
    <p:extLst>
      <p:ext uri="{BB962C8B-B14F-4D97-AF65-F5344CB8AC3E}">
        <p14:creationId xmlns:p14="http://schemas.microsoft.com/office/powerpoint/2010/main" val="32587833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Velion · Homepage messaging audit · July 2026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2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80202" y="1553822"/>
            <a:ext cx="9031596" cy="1262107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/>
              <a:t>The market is moving from AI as a feature</a:t>
            </a:r>
          </a:p>
          <a:p xmlns:a="http://schemas.openxmlformats.org/drawingml/2006/main">
            <a:pPr algn="ctr">
              <a:buNone/>
            </a:pPr>
            <a:r>
              <a:rPr sz="3600"/>
              <a:t>to AI as an operating layer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2147257" y="3329711"/>
            <a:ext cx="7897486" cy="2616365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sz="1800"/>
              <a:t>The winning homepages do not sell AI in the abstract. They sell a concrete reduction in work, risk, or time — then prove it with a named workflow, existing-system fit, customer evidence, and a visible trust lever. Velion should enter with one narrow promise: grounded work that becomes an approved action.</a:t>
            </a:r>
          </a:p>
        </p:txBody>
      </p:sp>
      <p:sp>
        <p:nvSpPr>
          <p:cNvPr id="3" name="Subtitle 4">
            <a:extLst xmlns:a="http://schemas.openxmlformats.org/drawingml/2006/main">
              <a:ext uri="{FF2B5EF4-FFF2-40B4-BE49-F238E27FC236}">
                <a16:creationId xmlns:a16="http://schemas.microsoft.com/office/drawing/2014/main" id="{3E4FFF9D-7D5C-DB8C-D20B-817FA574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50" y="1001877"/>
            <a:ext cx="5702300" cy="3617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>
                <a:solidFill>
                  <a:schemeClr val="bg1">
                    <a:lumMod val="65000"/>
                    <a:lumOff val="35000"/>
                  </a:schemeClr>
                </a:solidFill>
                <a:latin typeface="Roboto"/>
                <a:ea typeface="Roboto"/>
                <a:cs typeface="Roboto"/>
              </a:rPr>
              <a:t>Thesis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Velion · Homepage messaging audit · July 2026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3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531203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Four signals define the market story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50259"/>
            <a:ext cx="6308042" cy="1397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Across the set, the same conventions repeat: narrow wedge, measurable outcome, existing-system fit, and proof that the buyer can trust the mechanism.</a:t>
            </a:r>
          </a:p>
        </p:txBody>
      </p:sp>
      <p:sp>
        <p:nvSpPr>
          <p:cNvPr id="1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71D2425F-989C-9570-E60C-C4CFCBC5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56" y="3933441"/>
            <a:ext cx="2653334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98018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500" u="none" cap="none">
                <a:ln>
                  <a:noFill/>
                </a:ln>
                <a:solidFill>
                  <a:srgbClr val="FF4305"/>
                </a:solidFill>
              </a:rPr>
              <a:t>46</a:t>
            </a:r>
          </a:p>
        </p:txBody>
      </p:sp>
      <p:sp>
        <p:nvSpPr>
          <p:cNvPr id="1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45FA8062-B7A0-A104-9AAD-F21A3F25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56" y="4975635"/>
            <a:ext cx="2653334" cy="9037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public homepages audited from hero to footer</a:t>
            </a:r>
          </a:p>
        </p:txBody>
      </p:sp>
      <p:sp>
        <p:nvSpPr>
          <p:cNvPr id="1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D7240227-0821-E266-E2C3-115ABA62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280" y="3933441"/>
            <a:ext cx="2653334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98018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500" u="none" cap="none">
                <a:ln>
                  <a:noFill/>
                </a:ln>
                <a:solidFill>
                  <a:srgbClr val="FF4305"/>
                </a:solidFill>
              </a:rPr>
              <a:t>7</a:t>
            </a:r>
          </a:p>
        </p:txBody>
      </p:sp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D91BFBF-1C92-F26C-E60C-53D2ABA1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280" y="4975635"/>
            <a:ext cx="2653334" cy="9037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recurring message clusters across categories</a:t>
            </a:r>
          </a:p>
        </p:txBody>
      </p:sp>
      <p:sp>
        <p:nvSpPr>
          <p:cNvPr id="2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CFE3A416-C709-ABBB-9B4C-F33DBB30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2304" y="3933441"/>
            <a:ext cx="2653334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98018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500" u="none" cap="none">
                <a:ln>
                  <a:noFill/>
                </a:ln>
                <a:solidFill>
                  <a:srgbClr val="FF4305"/>
                </a:solidFill>
              </a:rPr>
              <a:t>1</a:t>
            </a:r>
          </a:p>
        </p:txBody>
      </p:sp>
      <p:sp>
        <p:nvSpPr>
          <p:cNvPr id="2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D9E076D-AB6A-B811-2DCD-DFF54871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2304" y="4975635"/>
            <a:ext cx="2653334" cy="9037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Velion wedge: source → proposal → approval → action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Velion · Homepage messaging audit · July 2026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4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372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The strongest pages make the product feel inevitable</a:t>
            </a:r>
          </a:p>
        </p:txBody>
      </p:sp>
      <p:sp>
        <p:nvSpPr>
          <p:cNvPr id="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5A7115C-83FA-26C1-A475-11085626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72243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>
                <a:solidFill>
                  <a:srgbClr val="FF4305"/>
                </a:solidFill>
              </a:rPr>
              <a:t>One audience. One costly problem. One believable mechanism.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6EE50BE-D82B-E1E1-5863-AFDFAD93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18564"/>
            <a:ext cx="5537200" cy="29234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R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>Most pages follow the same sequence:</a:t>
            </a:r>
          </a:p>
          <a:p xmlns:a="http://schemas.openxmlformats.org/drawingml/2006/main">
            <a:pPr marR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/>
            </a:r>
          </a:p>
          <a:p xmlns:a="http://schemas.openxmlformats.org/drawingml/2006/main">
            <a:pPr marR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>1. Name the job and the outcome.</a:t>
            </a:r>
          </a:p>
          <a:p xmlns:a="http://schemas.openxmlformats.org/drawingml/2006/main">
            <a:pPr marR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>2. Make the pain familiar.</a:t>
            </a:r>
          </a:p>
          <a:p xmlns:a="http://schemas.openxmlformats.org/drawingml/2006/main">
            <a:pPr marR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>3. Show fit with existing systems.</a:t>
            </a:r>
          </a:p>
          <a:p xmlns:a="http://schemas.openxmlformats.org/drawingml/2006/main">
            <a:pPr marR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>4. Prove it with numbers and customer voices.</a:t>
            </a:r>
          </a:p>
          <a:p xmlns:a="http://schemas.openxmlformats.org/drawingml/2006/main">
            <a:pPr marR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>5. End with trust and a clear next step.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Velion · Homepage messaging audit · July 2026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5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Velion should keep its edge, not copy the category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172243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rgbClr val="FF4305"/>
                </a:solidFill>
              </a:rPr>
              <a:t>Borrow the proof structure. Keep the category narrow.</a:t>
            </a:r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317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/>
              <a:t>Lead with one workflow</a:t>
            </a:r>
          </a:p>
        </p:txBody>
      </p:sp>
      <p:sp>
        <p:nvSpPr>
          <p:cNvPr id="3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015150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18564"/>
            <a:ext cx="5537200" cy="29234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R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>Keep: source-grounded answers, visible approval, Norwegian-first language, existing-system context, and honest live-vs-roadmap status.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916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/>
              <a:t>Show the source and decision gate</a:t>
            </a:r>
          </a:p>
        </p:txBody>
      </p:sp>
      <p:sp>
        <p:nvSpPr>
          <p:cNvPr id="1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624749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765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/>
              <a:t>Name the systems it fits around</a:t>
            </a:r>
          </a:p>
        </p:txBody>
      </p:sp>
      <p:sp>
        <p:nvSpPr>
          <p:cNvPr id="1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239598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/>
              <a:t>Use one quantified proof per case</a:t>
            </a:r>
          </a:p>
        </p:txBody>
      </p:sp>
      <p:sp>
        <p:nvSpPr>
          <p:cNvPr id="21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8491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2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/>
              <a:t>Keep trust claims precise and current</a:t>
            </a:r>
          </a:p>
        </p:txBody>
      </p:sp>
      <p:sp>
        <p:nvSpPr>
          <p:cNvPr id="2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54714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Velion · Homepage messaging audit · July 2026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6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A homepage story Velion can own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FF4709"/>
                </a:solidFill>
              </a:rPr>
              <a:t>Problem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/>
              <a:t>Work is scattered across systems. Answers are slow to verify, and handoffs lose context.</a:t>
            </a: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22960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>
                <a:solidFill>
                  <a:srgbClr val="FF4709"/>
                </a:solidFill>
              </a:rPr>
              <a:t>Result</a:t>
            </a:r>
          </a:p>
          <a:p xmlns:a="http://schemas.openxmlformats.org/drawingml/2006/main">
            <a:pPr marL="0" marR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/>
              <a:t>Fewer handoff gaps. Faster grounded answers. Actions that stay accountable and inspectable.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31165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>
                <a:solidFill>
                  <a:srgbClr val="FF4709"/>
                </a:solidFill>
              </a:rPr>
              <a:t>Mechanism</a:t>
            </a:r>
          </a:p>
          <a:p xmlns:a="http://schemas.openxmlformats.org/drawingml/2006/main">
            <a:pPr marL="0" marR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/>
              <a:t>Velion gathers relevant context, shows sources, drafts the next step, and waits for a human yes before consequential action.</a:t>
            </a:r>
          </a:p>
        </p:txBody>
      </p:sp>
      <p:sp>
        <p:nvSpPr>
          <p:cNvPr id="5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54BF3B54-2B79-13E5-A49F-40DB04B8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50259"/>
            <a:ext cx="6308042" cy="1397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The page should make a buyer understand the job, the control model, and the next step before they need a feature tour.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2026-07-22T13:30:34.9400000Z</dcterms:created>
  <dcterms:modified xsi:type="dcterms:W3CDTF">2026-07-22T13:30:34.9400000Z</dcterms:modified>
</coreProperties>
</file>